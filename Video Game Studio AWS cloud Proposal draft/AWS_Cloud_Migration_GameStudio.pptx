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00D4FF"/>
                </a:solidFill>
              </a:rPr>
              <a:t>AWS CLOUD MIGRATION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D6E0"/>
                </a:solidFill>
              </a:rPr>
              <a:t>Scaling Game Infrastructure with Amazon Web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Mid-Sized Video Game Studio &amp; Publisher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Presenter: Cloud Solutions Architect   |   AWS Region: US East (N. Virginia) — us-east-1   |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00D4FF"/>
                </a:solidFill>
              </a:rPr>
              <a:t>"Our players expect fast, reliable, always-on experiences.
AWS gives us the infrastructure to deliver that — at any scale."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B82"/>
                </a:solidFill>
              </a:rPr>
              <a:t>Topics: Business Justification  |  Cloud-Native &amp; Serverless  |  TCO Analysis  |  AWS Pricing Calculator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Who We Are &amp; What We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78408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Mid-Sized Video Game Studio &amp; Publisher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OUR ORGANIZATION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Operates online multiplayer services (matchmaking, lobbies, leaderboards)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Manages player accounts, profiles, and in-game purchases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Distributes game patches, DLC, trailers, and screenshots globally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Analyzes player behavior, session data, and crash reports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Experiences unpredictable traffic spikes during launches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</a:rPr>
              <a:t>THE PROBLEM WITH ON-PREMISES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9164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Fixed server capacity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Cannot handle launch-day spikes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High upfront hardware cost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Capital risk before game success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Manual patching &amp; maintenance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Engineering time lost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Single datacenter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No redundancy or failover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Slow provisioning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Weeks to add capacity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Business Justification — Why Move to AWS?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55548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791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Five benefits tied directly to gaming business needs  (1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11480" cy="68580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Handle Traffic Spikes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Game launches, seasonal events, and streamer promotions can spike player
traffic 10x–100x in minutes. EC2 Auto Scaling adds capacity instantly and
scales back down when demand drops — no idle hardware.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411480" cy="68580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Improve Player Experience &amp; Uptime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Players expect 24/7 availability. RDS Multi-AZ auto-fails over if the
primary DB fails. Elastic Load Balancing removes unhealthy instances.
CloudWatch monitors and alerts in real time. AWS SLA: 99.99%.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4340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434840"/>
            <a:ext cx="411480" cy="68580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Reduce Upfront Hardware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5487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No need to buy servers before knowing if a game will succeed.
AWS converts large capital expenditures (CapEx) into predictable
monthly operating expenses (OpEx). Pay only for what you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Business Justification — Why Move to AWS?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9330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7054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Five benefits tied directly to gaming business needs  (2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11480" cy="68580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Global Delivery of Game Files &amp; Patches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Games need frequent updates — patches, DLC, hotfixes, trailers.
Amazon S3 stores assets with 11-nines durability. CloudFront CDN
delivers files from edge locations worldwide for fast player downloads.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411480" cy="68580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Data-Driven Game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Studios need to understand player behavior, retention, crashes, and
purchases. CloudWatch + Kinesis + S3 + Athena + QuickSight provide
a full analytics pipeline — no separate analytics infrastructure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20640"/>
            <a:ext cx="11274552" cy="685800"/>
          </a:xfrm>
          <a:prstGeom prst="rect">
            <a:avLst/>
          </a:prstGeom>
          <a:solidFill>
            <a:srgbClr val="003A6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FFFFFF"/>
                </a:solidFill>
              </a:rPr>
              <a:t>Result: Flexible infrastructure that scales with player demand, reduces financial risk, and improves uptime — all without owning physical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Cloud-Native &amp; Serverless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55548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073" y="10185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Why managed and serverless AWS services are the right fit for a game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CLOUD-NATIVE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Built for cloud — managed, scalable, integrated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No OS patching, hardware maintenance, or capacity planning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AWS handles availability, backups, and failover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Examples: RDS, S3, CloudFront, ELB, CloudWatch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</a:rPr>
              <a:t>SERVERLESS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No servers to provision, patch, or manage at all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Pay per invocation — not per idle server hour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Scales automatically from 0 to millions of requests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•  Examples: Lambda, API Gateway, S3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900"/>
                </a:solidFill>
              </a:rPr>
              <a:t>LAMBDA SPOTLIGHT — Match-End Event 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645920" cy="777240"/>
          </a:xfrm>
          <a:prstGeom prst="rect">
            <a:avLst/>
          </a:prstGeom>
          <a:solidFill>
            <a:srgbClr val="556B82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Match 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39" y="4297680"/>
            <a:ext cx="1645920" cy="77724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Lambda
Triggered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4279392"/>
            <a:ext cx="1645920" cy="777240"/>
          </a:xfrm>
          <a:prstGeom prst="rect">
            <a:avLst/>
          </a:prstGeom>
          <a:solidFill>
            <a:srgbClr val="005CA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Update RDS
Rankings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297680"/>
            <a:ext cx="1645920" cy="777240"/>
          </a:xfrm>
          <a:prstGeom prst="rect">
            <a:avLst/>
          </a:prstGeom>
          <a:solidFill>
            <a:srgbClr val="005CA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Award
Currency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297680"/>
            <a:ext cx="1645920" cy="777240"/>
          </a:xfrm>
          <a:prstGeom prst="rect">
            <a:avLst/>
          </a:prstGeom>
          <a:solidFill>
            <a:srgbClr val="005CA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Send Push
Notification</a:t>
            </a:r>
          </a:p>
        </p:txBody>
      </p:sp>
      <p:sp>
        <p:nvSpPr>
          <p:cNvPr id="17" name="Can 16"/>
          <p:cNvSpPr/>
          <p:nvPr/>
        </p:nvSpPr>
        <p:spPr>
          <a:xfrm>
            <a:off x="2217420" y="4547362"/>
            <a:ext cx="320040" cy="228600"/>
          </a:xfrm>
          <a:prstGeom prst="can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n 17"/>
          <p:cNvSpPr/>
          <p:nvPr/>
        </p:nvSpPr>
        <p:spPr>
          <a:xfrm>
            <a:off x="4137659" y="4547362"/>
            <a:ext cx="320040" cy="228600"/>
          </a:xfrm>
          <a:prstGeom prst="can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n 18"/>
          <p:cNvSpPr/>
          <p:nvPr/>
        </p:nvSpPr>
        <p:spPr>
          <a:xfrm>
            <a:off x="6172200" y="4553712"/>
            <a:ext cx="320040" cy="228600"/>
          </a:xfrm>
          <a:prstGeom prst="can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n 19"/>
          <p:cNvSpPr/>
          <p:nvPr/>
        </p:nvSpPr>
        <p:spPr>
          <a:xfrm>
            <a:off x="8366760" y="4553712"/>
            <a:ext cx="320040" cy="228600"/>
          </a:xfrm>
          <a:prstGeom prst="can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9900"/>
                </a:solidFill>
              </a:rPr>
              <a:t>Without Lambda: a server runs 24/7 waiting for events — even at 3 AM with zero players.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9D353"/>
                </a:solidFill>
              </a:rPr>
              <a:t>With Lambda: function runs ~200ms per match end. Studio pays for 200ms of compute, not 24 hours of idle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AWS Services Mapped to Gaming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50976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Each service solves a specific game studio business or technical requirement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AWS Service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How It Helps the Game Studio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Amazon EC2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Compute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Game backend servers, matchmaking, login/auth, lobby systems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Amazon RDS MySQL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Managed DB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Player profiles, inventory, leaderboards, purchases — Multi-AZ HA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Amazon S3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Object Storage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Patches, DLC, logs, screenshots, trailers, backups — 11-nines durability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AWS Lambda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Serverless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Match results, rewards, image resize, log cleanup — no idle servers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Amazon API Gateway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Managed API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Secure REST/WebSocket endpoints for game clients, apps, launchers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Amazon CloudWatch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Monitoring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Server health, player traffic, errors, latency — alarms &amp; auto-recovery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Elastic Load Balancing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Traffic Mgmt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Spreads player connections across EC2 instances, removes unhealthy ones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Auto Scaling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Capacity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Adds EC2 on launch day, removes on off-peak — automatic, policy-driven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Amazon CloudFront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CDN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Delivers patches &amp; media from global edge locations — low latency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38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AWS IAM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Access Control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Least-privilege permissions for devs, admins, CI/CD pipelines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00D4FF"/>
                </a:solidFill>
              </a:rPr>
              <a:t>AWS Architecture — Video Game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073" y="946404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19556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How EC2, RDS, S3, Lambda, CloudFront, and supporting services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371600" cy="685800"/>
          </a:xfrm>
          <a:prstGeom prst="rect">
            <a:avLst/>
          </a:prstGeom>
          <a:solidFill>
            <a:srgbClr val="556B82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Players
(Global)</a:t>
            </a:r>
          </a:p>
        </p:txBody>
      </p:sp>
      <p:sp>
        <p:nvSpPr>
          <p:cNvPr id="7" name="Can 6"/>
          <p:cNvSpPr/>
          <p:nvPr/>
        </p:nvSpPr>
        <p:spPr>
          <a:xfrm>
            <a:off x="1691640" y="1572768"/>
            <a:ext cx="411480" cy="201168"/>
          </a:xfrm>
          <a:prstGeom prst="ca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48840" y="1325880"/>
            <a:ext cx="1554480" cy="685800"/>
          </a:xfrm>
          <a:prstGeom prst="rect">
            <a:avLst/>
          </a:prstGeom>
          <a:solidFill>
            <a:srgbClr val="005CA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Amazon
CloudFront
(CDN)</a:t>
            </a:r>
          </a:p>
        </p:txBody>
      </p:sp>
      <p:sp>
        <p:nvSpPr>
          <p:cNvPr id="9" name="Can 8"/>
          <p:cNvSpPr/>
          <p:nvPr/>
        </p:nvSpPr>
        <p:spPr>
          <a:xfrm>
            <a:off x="3749039" y="1572768"/>
            <a:ext cx="411480" cy="201168"/>
          </a:xfrm>
          <a:prstGeom prst="ca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325880"/>
            <a:ext cx="1554480" cy="685800"/>
          </a:xfrm>
          <a:prstGeom prst="rect">
            <a:avLst/>
          </a:prstGeom>
          <a:solidFill>
            <a:srgbClr val="005CA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Elastic Load
Balancer</a:t>
            </a:r>
          </a:p>
        </p:txBody>
      </p:sp>
      <p:sp>
        <p:nvSpPr>
          <p:cNvPr id="11" name="Can 10"/>
          <p:cNvSpPr/>
          <p:nvPr/>
        </p:nvSpPr>
        <p:spPr>
          <a:xfrm>
            <a:off x="5806440" y="1572768"/>
            <a:ext cx="411480" cy="201168"/>
          </a:xfrm>
          <a:prstGeom prst="ca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2011680" cy="68580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Amazon EC2
Backend Servers
(10x m6i.8xlarge)</a:t>
            </a:r>
          </a:p>
        </p:txBody>
      </p:sp>
      <p:sp>
        <p:nvSpPr>
          <p:cNvPr id="13" name="Can 12"/>
          <p:cNvSpPr/>
          <p:nvPr/>
        </p:nvSpPr>
        <p:spPr>
          <a:xfrm>
            <a:off x="8321040" y="1572768"/>
            <a:ext cx="411480" cy="201168"/>
          </a:xfrm>
          <a:prstGeom prst="ca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78240" y="1325880"/>
            <a:ext cx="155448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AWS IAM
Access Control</a:t>
            </a:r>
          </a:p>
        </p:txBody>
      </p:sp>
      <p:sp>
        <p:nvSpPr>
          <p:cNvPr id="15" name="Can 14"/>
          <p:cNvSpPr/>
          <p:nvPr/>
        </p:nvSpPr>
        <p:spPr>
          <a:xfrm rot="5400000">
            <a:off x="7178040" y="2057400"/>
            <a:ext cx="201168" cy="320040"/>
          </a:xfrm>
          <a:prstGeom prst="ca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n 15"/>
          <p:cNvSpPr/>
          <p:nvPr/>
        </p:nvSpPr>
        <p:spPr>
          <a:xfrm rot="5400000">
            <a:off x="7178040" y="3246120"/>
            <a:ext cx="201168" cy="320040"/>
          </a:xfrm>
          <a:prstGeom prst="ca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0" y="2423160"/>
            <a:ext cx="2651760" cy="1005840"/>
          </a:xfrm>
          <a:prstGeom prst="rect">
            <a:avLst/>
          </a:prstGeom>
          <a:solidFill>
            <a:srgbClr val="00528C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Amazon RDS MySQL
Multi-AZ
(5x db.r6g.2xlarge)
Player data, leaderboards,
inventory, purchases</a:t>
            </a:r>
          </a:p>
        </p:txBody>
      </p:sp>
      <p:sp>
        <p:nvSpPr>
          <p:cNvPr id="18" name="Can 17"/>
          <p:cNvSpPr/>
          <p:nvPr/>
        </p:nvSpPr>
        <p:spPr>
          <a:xfrm>
            <a:off x="7726679" y="2834640"/>
            <a:ext cx="365760" cy="201168"/>
          </a:xfrm>
          <a:prstGeom prst="can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423160"/>
            <a:ext cx="2286000" cy="1005840"/>
          </a:xfrm>
          <a:prstGeom prst="rect">
            <a:avLst/>
          </a:prstGeom>
          <a:solidFill>
            <a:srgbClr val="1A5C2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AWS Lambda
Serverless Functions
Match results, rewards,
log cleanup, notifications</a:t>
            </a:r>
          </a:p>
        </p:txBody>
      </p:sp>
      <p:sp>
        <p:nvSpPr>
          <p:cNvPr id="20" name="Can 19"/>
          <p:cNvSpPr/>
          <p:nvPr/>
        </p:nvSpPr>
        <p:spPr>
          <a:xfrm rot="5400000">
            <a:off x="7178040" y="3611880"/>
            <a:ext cx="201168" cy="320040"/>
          </a:xfrm>
          <a:prstGeom prst="ca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3977639"/>
            <a:ext cx="2651760" cy="1005840"/>
          </a:xfrm>
          <a:prstGeom prst="rect">
            <a:avLst/>
          </a:prstGeom>
          <a:solidFill>
            <a:srgbClr val="7A3B00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Amazon S3 Standard
Game patches, DLC, logs,
trailers, screenshots,
backups  (2 TB)</a:t>
            </a:r>
          </a:p>
        </p:txBody>
      </p:sp>
      <p:sp>
        <p:nvSpPr>
          <p:cNvPr id="22" name="Can 21"/>
          <p:cNvSpPr/>
          <p:nvPr/>
        </p:nvSpPr>
        <p:spPr>
          <a:xfrm>
            <a:off x="7726679" y="4389120"/>
            <a:ext cx="365760" cy="201168"/>
          </a:xfrm>
          <a:prstGeom prst="can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3977639"/>
            <a:ext cx="2286000" cy="1005840"/>
          </a:xfrm>
          <a:prstGeom prst="rect">
            <a:avLst/>
          </a:prstGeom>
          <a:solidFill>
            <a:srgbClr val="4A2A00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Amazon CloudWatch
Monitoring &amp; Alerts
Server health, traffic,
errors, latency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77639"/>
            <a:ext cx="2286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Amazon API Gateway
REST / WebSocket endpoints
for game clients &amp; apps</a:t>
            </a:r>
          </a:p>
        </p:txBody>
      </p:sp>
      <p:sp>
        <p:nvSpPr>
          <p:cNvPr id="25" name="Can 24"/>
          <p:cNvSpPr/>
          <p:nvPr/>
        </p:nvSpPr>
        <p:spPr>
          <a:xfrm>
            <a:off x="2606040" y="4389120"/>
            <a:ext cx="365760" cy="201168"/>
          </a:xfrm>
          <a:prstGeom prst="ca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17520" y="3977639"/>
            <a:ext cx="1920240" cy="1005840"/>
          </a:xfrm>
          <a:prstGeom prst="rect">
            <a:avLst/>
          </a:prstGeom>
          <a:solidFill>
            <a:srgbClr val="003A6E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Auto Scaling
Adds / removes EC2
based on player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6E0"/>
                </a:solidFill>
              </a:rPr>
              <a:t>LEGEND: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212080"/>
            <a:ext cx="1280160" cy="32004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Compute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5212080"/>
            <a:ext cx="1280160" cy="320040"/>
          </a:xfrm>
          <a:prstGeom prst="rect">
            <a:avLst/>
          </a:prstGeom>
          <a:solidFill>
            <a:srgbClr val="00528C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212080"/>
            <a:ext cx="1280160" cy="320040"/>
          </a:xfrm>
          <a:prstGeom prst="rect">
            <a:avLst/>
          </a:prstGeom>
          <a:solidFill>
            <a:srgbClr val="7A3B00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5212080"/>
            <a:ext cx="1280160" cy="320040"/>
          </a:xfrm>
          <a:prstGeom prst="rect">
            <a:avLst/>
          </a:prstGeom>
          <a:solidFill>
            <a:srgbClr val="1A5C2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Serverless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5212080"/>
            <a:ext cx="1280160" cy="320040"/>
          </a:xfrm>
          <a:prstGeom prst="rect">
            <a:avLst/>
          </a:prstGeom>
          <a:solidFill>
            <a:srgbClr val="4A2A00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5212080"/>
            <a:ext cx="1280160" cy="320040"/>
          </a:xfrm>
          <a:prstGeom prst="rect">
            <a:avLst/>
          </a:prstGeom>
          <a:solidFill>
            <a:srgbClr val="005CA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CDN/Network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TCO Analysis — Assumptions &amp;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78408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87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All pricing: US East (N. Virginia) — us-east-1  |  Sourced from AWS Pricing Calculator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Assumption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AWS Region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US East (N. Virginia) — us-east-1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Operating System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Linux (no additional OS licensing cost)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Uptime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730 hours/month (24/7, full month)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Support Level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Not included — billed separately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Data Transfer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Intra-region EC2 to RDS/S3 assumed free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Pricing Model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On-Demand baseline vs 1-Year Reserved (No Upfront)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RDS Backup Storage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Automated backups free up to provisioned storage size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S3 Lifecycle Policies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None — all 2 TB stays in S3 Standard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S3 Cross-Region Replication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None — single region only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EBS Volumes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gp3, 100 GB per EC2 instance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TCO Component A — EC2: 10 Linux Virtual Machines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32 vCPU, 128 GB RAM each  |  Instance: m6i.8xlarge  |  Use: Game backend servers, matchmaking, auth,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INSTANCE SELECTION: m6i.8xlarge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5394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Spec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Instance Family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M6i — General Purpose (Intel Ice Lake)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vCPUs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RAM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128 GiB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Up to 12.5 Gbps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OS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Linux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Why M6i?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4:1 compute/memory ratio, 6th-gen Intel, better perf than M5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PRICING: 1-YEAR RESERVED (NO UPFRONT)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91640"/>
          <a:ext cx="53035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Pricing Tier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Hourly Rate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Monthly (730 hrs)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On-Demand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$1.536/hr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$1,121.28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1-Year Reserved (No Upfront)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~$0.952/hr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~$695.00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29718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WHY RESERVED?  Game backend servers run 24/7 — predictable workload. 1-Yr RI saves ~38% vs On-Demand with no upfront cash commitment.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4340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MONTHLY COST CALCULATION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800600"/>
          <a:ext cx="1127455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Calculation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Monthly Cost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10 x m6i.8xlarge (1-Yr RI No Upfront)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$0.952 x 730 hrs x 10 instances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$6,950.00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10 x 100 GB gp3 EBS root volumes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1,000 GB x $0.08/GB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$80.00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EC2 TOTAL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$7,030.00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TCO Component B — RDS MySQL: 5 Database 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Instance: db.r6g.2xlarge  |  Multi-AZ  |  Use: Player accounts, leaderboards, inventory, purchases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INSTANCE SELECTION: db.r6g.2xlarge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53949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Spec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Instance Family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R6g — Memory Optimized (Graviton2 ARM)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vCPUs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RAM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64 GiB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Engine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MySQL 8.0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Why R6g?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~20% better price/perf than x86, memory-optimized for DB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CONFIGURATION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91640"/>
          <a:ext cx="5303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Deployment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Multi-AZ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Auto failover — game data must stay up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Storage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gp3 SSD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Better IOPS than gp2, cheaper than io1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500 GB/instance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Player data, indexes, growth headroom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Backup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7-day retention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Free up to provisioned storage size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Pricing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1-Yr RI No Upfront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~40% savings vs On-Demand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11480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MONTHLY COST CALCULATION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57200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Line Item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Calculation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Monthly Cost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On-Demand Single-AZ rate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$1.038/hr (confirmed us-east-1)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On-Demand Multi-AZ rate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$1.038 x 2 = $2.076/hr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1-Yr RI No Upfront Multi-AZ (~40% discount)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$2.076 x 0.60 = $1.246/hr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5 x db.r6g.2xlarge Multi-AZ (1-Yr RI)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$1.246 x 730 x 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$4,547.90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Storage: 500 GB gp3 x 5 x 2 (Multi-AZ)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5,000 GB x $0.115/GB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$575.00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Automated Backups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Included free (up to provisioned size)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$0.00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RDS TOTAL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$5,122.90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TCO Component C — Amazon S3 Standard Bucket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Use: Game patches, DLC, logs, trailers, screenshots, backups  |  2 TB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CONFIGURATION &amp; ASSUMPTIONS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5394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Storage Class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S3 Standard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Data Volume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2 TB (2,048 GB)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Lifecycle Policies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None — all data stays in S3 Standard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Cross-Region Replication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None — single region (us-east-1)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Data Transfer Out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Via CloudFront or intra-region (free to EC2)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S3 STANDARD PRICING (us-east-1)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91640"/>
          <a:ext cx="53035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Storage (first 50 TB/month)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$0.023 per GB/month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PUT, COPY, POST, LIST requests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$0.005 per 1,000 requests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GET, SELECT, and other requests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$0.0004 per 1,000 requests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93192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MONTHLY COST CALCULATION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389120"/>
          <a:ext cx="11274552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Line Item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Calculation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Monthly Cost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Storage: 2,048 GB x $0.023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2,048 x $0.023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$47.10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PUT/COPY: 1,000,000 requests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1,000,000 / 1,000 x $0.005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$5.00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GET/SELECT: 10,000,000 requests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10,000,000 / 1,000 x $0.0004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$4.00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Data Transfer Out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Intra-region / CloudFront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$0.00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S3 TOTAL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$56.10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TCO Summary — Monthly Cost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78408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1219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Region: us-east-1  |  Pricing model: 1-Year Reserved (No Upfront) vs On-Demand baseline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On-Demand/mo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Reserved/mo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Monthly Savings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EC2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10x m6i.8xlarge Linux + 100 GB gp3 EBS each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$11,292.80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$7,030.00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$4,262.80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RDS MySQL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5x db.r6g.2xlarge Multi-AZ + 500 GB gp3 each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$8,152.40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$5,122.90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$3,029.50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S3 Standard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2 TB + 1M PUT requests + 10M GET requests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$56.10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$56.10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$0.00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$19,501.30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$12,209.00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$7,292.30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840480"/>
            <a:ext cx="2560320" cy="118872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Monthly Total
(Reserved)
$12,209.00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840480"/>
            <a:ext cx="2560320" cy="1188720"/>
          </a:xfrm>
          <a:prstGeom prst="rect">
            <a:avLst/>
          </a:prstGeom>
          <a:solidFill>
            <a:srgbClr val="005CA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Annual Total
(Reserved)
$146,508.00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840480"/>
            <a:ext cx="2560320" cy="1188720"/>
          </a:xfrm>
          <a:prstGeom prst="rect">
            <a:avLst/>
          </a:prstGeom>
          <a:solidFill>
            <a:srgbClr val="1A5C2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Annual Savings
vs On-Demand
~$87,508/year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3840480"/>
            <a:ext cx="2560320" cy="1188720"/>
          </a:xfrm>
          <a:prstGeom prst="rect">
            <a:avLst/>
          </a:prstGeom>
          <a:solidFill>
            <a:srgbClr val="556B82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On-Demand
Baseline/mo
~$19,501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9D353"/>
                </a:solidFill>
              </a:rPr>
              <a:t>Switching from On-Demand to 1-Year Reserved Instances saves ~$87,500/year without changing any architecture.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235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B82"/>
                </a:solidFill>
              </a:rPr>
              <a:t>Note: The ~$19,543 on-demand figure referenced in the brief aligns with this on-demand baseline estimate.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AWS Pricing Calculator — How to Build This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14984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URL: </a:t>
            </a:r>
            <a:r>
              <a:rPr lang="en-US" sz="1600" b="0" i="0" dirty="0">
                <a:solidFill>
                  <a:srgbClr val="CCD6E0"/>
                </a:solidFill>
              </a:rPr>
              <a:t>https://calculator.aws/#/estimate?id=cfc8e1ba9bd22cb545df0bc6b60e6cb5195f6edb</a:t>
            </a:r>
            <a:endParaRPr sz="1600" b="0" i="0" dirty="0">
              <a:solidFill>
                <a:srgbClr val="CCD6E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286000" cy="82296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1 — EC2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32588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0"/>
                </a:solidFill>
              </a:rPr>
              <a:t>Add service &gt; EC2 | Region: US East (N. Virginia) | Instance: m6i.8xlarge | OS: Linux
Qty: 10 | Usage: 730 </a:t>
            </a:r>
            <a:r>
              <a:rPr sz="1100" b="0" i="0" dirty="0" err="1">
                <a:solidFill>
                  <a:srgbClr val="CCD6E0"/>
                </a:solidFill>
              </a:rPr>
              <a:t>hrs</a:t>
            </a:r>
            <a:r>
              <a:rPr sz="1100" b="0" i="0" dirty="0">
                <a:solidFill>
                  <a:srgbClr val="CCD6E0"/>
                </a:solidFill>
              </a:rPr>
              <a:t>/month | Pricing: Reserved 1-Year No Upfront
Add EBS: gp3, 100 GB x 10 instances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2286000" cy="822960"/>
          </a:xfrm>
          <a:prstGeom prst="rect">
            <a:avLst/>
          </a:prstGeom>
          <a:solidFill>
            <a:srgbClr val="005CA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2 — RDS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146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0"/>
                </a:solidFill>
              </a:rPr>
              <a:t>Add service &gt; RDS | Engine: MySQL | Instance: db.r6g.2xlarge | Deployment: Multi-AZ
Qty: 5 | Storage: gp3, 500 GB/instance | Pricing: Reserved 1-Year No Upfront
Backup retention: 7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2286000" cy="822960"/>
          </a:xfrm>
          <a:prstGeom prst="rect">
            <a:avLst/>
          </a:prstGeom>
          <a:solidFill>
            <a:srgbClr val="7A3B00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3 —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0332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Add service &gt; S3 | Storage class: S3 Standard | Storage: 2,048 GB
PUT/COPY/POST/LIST requests: 1,000,000 | GET/SELECT requests: 10,000,000
Data transfer out: 0 GB (intra-region assumed free)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17720"/>
            <a:ext cx="11274552" cy="18288"/>
          </a:xfrm>
          <a:prstGeom prst="rect">
            <a:avLst/>
          </a:prstGeom>
          <a:solidFill>
            <a:srgbClr val="55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892040"/>
            <a:ext cx="2286000" cy="822960"/>
          </a:xfrm>
          <a:prstGeom prst="rect">
            <a:avLst/>
          </a:prstGeom>
          <a:solidFill>
            <a:srgbClr val="1A5C2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4 —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89204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Click View Summary &gt; verify totals match calculations
Click Share &gt; copy the unique estimate URL
Screenshot each service panel + summary page for submission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40D99C1-35D0-C278-2672-84433646A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121" y="1389888"/>
            <a:ext cx="3362504" cy="6870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2C68B94-4B82-C9EC-E079-86F67F2AA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469" y="2500246"/>
            <a:ext cx="3428291" cy="6870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CD14C4-20EA-3486-7074-3D1B4674A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121" y="3703320"/>
            <a:ext cx="3428292" cy="6293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D75E9D6-ED68-E5C4-8474-E6E33C660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391" y="4972558"/>
            <a:ext cx="2710446" cy="3342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Conclusion — Why AWS Is the Right Move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78408"/>
            <a:ext cx="112745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073" y="10185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6E0"/>
                </a:solidFill>
              </a:rPr>
              <a:t>A more flexible, scalable, and reliable infrastructure platform for our game studio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Business Need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AWS Solution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005C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Handle launch-day traffic spikes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EC2 Auto Scaling + ELB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No crashes, no over-provisioning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Keep player data available 24/7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RDS Multi-AZ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Automatic failover, no manual work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Distribute patches globally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S3 + CloudFront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Fast downloads for players worldwide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Reduce upfront hardware risk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Pay-as-you-go model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CapEx to OpEx, lower financial risk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Understand player behavior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CloudWatch, Kinesis, Athena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Data-driven game improvements</a:t>
                      </a:r>
                    </a:p>
                  </a:txBody>
                  <a:tcPr>
                    <a:solidFill>
                      <a:srgbClr val="12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D6E0"/>
                          </a:solidFill>
                        </a:rPr>
                        <a:t>Run event-driven game logic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AWS Lambda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</a:rPr>
                        <a:t>No idle servers, pay per execution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51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FINANCIAL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17720"/>
            <a:ext cx="3200400" cy="1005840"/>
          </a:xfrm>
          <a:prstGeom prst="rect">
            <a:avLst/>
          </a:prstGeom>
          <a:solidFill>
            <a:srgbClr val="556B82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On-Demand
~$19,501/</a:t>
            </a:r>
            <a:r>
              <a:rPr sz="1300" b="1" dirty="0" err="1">
                <a:solidFill>
                  <a:srgbClr val="FFFFFF"/>
                </a:solidFill>
              </a:rPr>
              <a:t>mo</a:t>
            </a:r>
            <a:r>
              <a:rPr sz="1300" b="1" dirty="0">
                <a:solidFill>
                  <a:srgbClr val="FFFFFF"/>
                </a:solidFill>
              </a:rPr>
              <a:t>
~$234,012/yr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1426" y="4617720"/>
            <a:ext cx="3200400" cy="1005840"/>
          </a:xfrm>
          <a:prstGeom prst="rect">
            <a:avLst/>
          </a:prstGeom>
          <a:solidFill>
            <a:srgbClr val="008CFF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1-Year Reserved
$</a:t>
            </a:r>
            <a:r>
              <a:rPr lang="en-US" sz="1300" b="1" dirty="0">
                <a:solidFill>
                  <a:srgbClr val="FFFFFF"/>
                </a:solidFill>
              </a:rPr>
              <a:t>12,473</a:t>
            </a:r>
            <a:r>
              <a:rPr sz="1300" b="1" dirty="0">
                <a:solidFill>
                  <a:srgbClr val="FFFFFF"/>
                </a:solidFill>
              </a:rPr>
              <a:t>/</a:t>
            </a:r>
            <a:r>
              <a:rPr sz="1300" b="1" dirty="0" err="1">
                <a:solidFill>
                  <a:srgbClr val="FFFFFF"/>
                </a:solidFill>
              </a:rPr>
              <a:t>mo</a:t>
            </a:r>
            <a:r>
              <a:rPr sz="1300" b="1" dirty="0">
                <a:solidFill>
                  <a:srgbClr val="FFFFFF"/>
                </a:solidFill>
              </a:rPr>
              <a:t>
$</a:t>
            </a:r>
            <a:r>
              <a:rPr lang="en-US" sz="1300" b="1" dirty="0">
                <a:solidFill>
                  <a:srgbClr val="FFFFFF"/>
                </a:solidFill>
              </a:rPr>
              <a:t>149,683</a:t>
            </a:r>
            <a:r>
              <a:rPr sz="1300" b="1" dirty="0">
                <a:solidFill>
                  <a:srgbClr val="FFFFFF"/>
                </a:solidFill>
              </a:rPr>
              <a:t>/yr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1225" y="4617720"/>
            <a:ext cx="3200400" cy="1005840"/>
          </a:xfrm>
          <a:prstGeom prst="rect">
            <a:avLst/>
          </a:prstGeom>
          <a:solidFill>
            <a:srgbClr val="1A5C2A"/>
          </a:solidFill>
          <a:ln w="127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Annual Savings
~$8</a:t>
            </a:r>
            <a:r>
              <a:rPr lang="en-US" sz="1300" b="1" dirty="0">
                <a:solidFill>
                  <a:srgbClr val="FFFFFF"/>
                </a:solidFill>
              </a:rPr>
              <a:t>4</a:t>
            </a:r>
            <a:r>
              <a:rPr sz="1300" b="1" dirty="0">
                <a:solidFill>
                  <a:srgbClr val="FFFFFF"/>
                </a:solidFill>
              </a:rPr>
              <a:t>,</a:t>
            </a:r>
            <a:r>
              <a:rPr lang="en-US" sz="1300" b="1" dirty="0">
                <a:solidFill>
                  <a:srgbClr val="FFFFFF"/>
                </a:solidFill>
              </a:rPr>
              <a:t>329</a:t>
            </a:r>
            <a:r>
              <a:rPr sz="1300" b="1" dirty="0">
                <a:solidFill>
                  <a:srgbClr val="FFFFFF"/>
                </a:solidFill>
              </a:rPr>
              <a:t>/yr
with Reserved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D4FF"/>
                </a:solidFill>
              </a:rPr>
              <a:t>"For a game company where demand changes overnight and player experience depends on performance and availability,
AWS is not just a cost decision — it is a competitive advantage."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2281</Words>
  <Application>Microsoft Office PowerPoint</Application>
  <PresentationFormat>Custom</PresentationFormat>
  <Paragraphs>356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Lewis</dc:creator>
  <cp:keywords/>
  <dc:description>generated using python-pptx</dc:description>
  <cp:lastModifiedBy>Bell, Tyler (UMSL-Student)</cp:lastModifiedBy>
  <cp:revision>2</cp:revision>
  <dcterms:created xsi:type="dcterms:W3CDTF">2013-01-27T09:14:16Z</dcterms:created>
  <dcterms:modified xsi:type="dcterms:W3CDTF">2026-05-11T20:01:08Z</dcterms:modified>
  <cp:category/>
</cp:coreProperties>
</file>